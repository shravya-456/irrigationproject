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80" r:id="rId16"/>
    <p:sldId id="277"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37657" y="108223"/>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dirty="0">
                <a:solidFill>
                  <a:srgbClr val="1F3864"/>
                </a:solidFill>
                <a:latin typeface="Times New Roman"/>
                <a:ea typeface="Times New Roman"/>
                <a:cs typeface="Times New Roman"/>
                <a:sym typeface="Times New Roman"/>
              </a:rPr>
              <a:t>BYTEFORGE</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452615" y="37952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71540925"/>
              </p:ext>
            </p:extLst>
          </p:nvPr>
        </p:nvGraphicFramePr>
        <p:xfrm>
          <a:off x="1167619" y="831047"/>
          <a:ext cx="10058398" cy="5484470"/>
        </p:xfrm>
        <a:graphic>
          <a:graphicData uri="http://schemas.openxmlformats.org/drawingml/2006/table">
            <a:tbl>
              <a:tblPr>
                <a:noFill/>
                <a:tableStyleId>{0AAD8F4D-43EB-41E5-8A38-28AB6DFB1B60}</a:tableStyleId>
              </a:tblPr>
              <a:tblGrid>
                <a:gridCol w="2210673">
                  <a:extLst>
                    <a:ext uri="{9D8B030D-6E8A-4147-A177-3AD203B41FA5}">
                      <a16:colId xmlns:a16="http://schemas.microsoft.com/office/drawing/2014/main" val="20000"/>
                    </a:ext>
                  </a:extLst>
                </a:gridCol>
                <a:gridCol w="2615908">
                  <a:extLst>
                    <a:ext uri="{9D8B030D-6E8A-4147-A177-3AD203B41FA5}">
                      <a16:colId xmlns:a16="http://schemas.microsoft.com/office/drawing/2014/main" val="20002"/>
                    </a:ext>
                  </a:extLst>
                </a:gridCol>
                <a:gridCol w="3512199">
                  <a:extLst>
                    <a:ext uri="{9D8B030D-6E8A-4147-A177-3AD203B41FA5}">
                      <a16:colId xmlns:a16="http://schemas.microsoft.com/office/drawing/2014/main" val="20003"/>
                    </a:ext>
                  </a:extLst>
                </a:gridCol>
                <a:gridCol w="1719618">
                  <a:extLst>
                    <a:ext uri="{9D8B030D-6E8A-4147-A177-3AD203B41FA5}">
                      <a16:colId xmlns:a16="http://schemas.microsoft.com/office/drawing/2014/main" val="20004"/>
                    </a:ext>
                  </a:extLst>
                </a:gridCol>
              </a:tblGrid>
              <a:tr h="1222252">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Email ID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52155">
                <a:tc>
                  <a:txBody>
                    <a:bodyPr/>
                    <a:lstStyle/>
                    <a:p>
                      <a:pPr marL="0" marR="0" lvl="0" indent="0" algn="ctr" rtl="0">
                        <a:spcBef>
                          <a:spcPts val="0"/>
                        </a:spcBef>
                        <a:spcAft>
                          <a:spcPts val="0"/>
                        </a:spcAft>
                        <a:buNone/>
                      </a:pPr>
                      <a:r>
                        <a:rPr lang="en-US" dirty="0"/>
                        <a:t>Madhumitha Ramesh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ranjitha1f8@gmail.com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512237">
                <a:tc>
                  <a:txBody>
                    <a:bodyPr/>
                    <a:lstStyle/>
                    <a:p>
                      <a:pPr marL="0" marR="0" lvl="0" indent="0" algn="ctr" rtl="0">
                        <a:spcBef>
                          <a:spcPts val="0"/>
                        </a:spcBef>
                        <a:spcAft>
                          <a:spcPts val="0"/>
                        </a:spcAft>
                        <a:buNone/>
                      </a:pPr>
                      <a:r>
                        <a:rPr lang="en-US" dirty="0"/>
                        <a:t>Ranjitha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ctr" rtl="0">
                        <a:spcBef>
                          <a:spcPts val="0"/>
                        </a:spcBef>
                        <a:spcAft>
                          <a:spcPts val="0"/>
                        </a:spcAft>
                        <a:buNone/>
                      </a:pPr>
                      <a:r>
                        <a:rPr lang="en-IN" dirty="0"/>
                        <a:t>Madhumitha30905@gmail.com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297826">
                <a:tc>
                  <a:txBody>
                    <a:bodyPr/>
                    <a:lstStyle/>
                    <a:p>
                      <a:pPr marL="0" marR="0" lvl="0" indent="0" algn="ctr" rtl="0">
                        <a:spcBef>
                          <a:spcPts val="0"/>
                        </a:spcBef>
                        <a:spcAft>
                          <a:spcPts val="0"/>
                        </a:spcAft>
                        <a:buNone/>
                      </a:pPr>
                      <a:r>
                        <a:rPr lang="en-US" sz="1400" dirty="0"/>
                        <a:t>Shravya R</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rshravya427@gmail.com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398EABFE-EE55-D927-E2B9-9DFAB149132D}"/>
              </a:ext>
            </a:extLst>
          </p:cNvPr>
          <p:cNvPicPr>
            <a:picLocks noChangeAspect="1"/>
          </p:cNvPicPr>
          <p:nvPr/>
        </p:nvPicPr>
        <p:blipFill>
          <a:blip r:embed="rId4"/>
          <a:stretch>
            <a:fillRect/>
          </a:stretch>
        </p:blipFill>
        <p:spPr>
          <a:xfrm>
            <a:off x="4037428" y="2059204"/>
            <a:ext cx="1181686" cy="1350498"/>
          </a:xfrm>
          <a:prstGeom prst="rect">
            <a:avLst/>
          </a:prstGeom>
        </p:spPr>
      </p:pic>
      <p:pic>
        <p:nvPicPr>
          <p:cNvPr id="7" name="Picture 6">
            <a:extLst>
              <a:ext uri="{FF2B5EF4-FFF2-40B4-BE49-F238E27FC236}">
                <a16:creationId xmlns:a16="http://schemas.microsoft.com/office/drawing/2014/main" id="{35B06BA1-DEE3-6B5E-9925-554469E2C2C8}"/>
              </a:ext>
            </a:extLst>
          </p:cNvPr>
          <p:cNvPicPr>
            <a:picLocks noChangeAspect="1"/>
          </p:cNvPicPr>
          <p:nvPr/>
        </p:nvPicPr>
        <p:blipFill>
          <a:blip r:embed="rId5"/>
          <a:stretch>
            <a:fillRect/>
          </a:stretch>
        </p:blipFill>
        <p:spPr>
          <a:xfrm>
            <a:off x="4037428" y="5029732"/>
            <a:ext cx="1181686" cy="1221071"/>
          </a:xfrm>
          <a:prstGeom prst="rect">
            <a:avLst/>
          </a:prstGeom>
        </p:spPr>
      </p:pic>
      <p:pic>
        <p:nvPicPr>
          <p:cNvPr id="9" name="Picture 8">
            <a:extLst>
              <a:ext uri="{FF2B5EF4-FFF2-40B4-BE49-F238E27FC236}">
                <a16:creationId xmlns:a16="http://schemas.microsoft.com/office/drawing/2014/main" id="{B956AFF3-CA44-0A71-8804-B2789B109A1A}"/>
              </a:ext>
            </a:extLst>
          </p:cNvPr>
          <p:cNvPicPr>
            <a:picLocks noChangeAspect="1"/>
          </p:cNvPicPr>
          <p:nvPr/>
        </p:nvPicPr>
        <p:blipFill>
          <a:blip r:embed="rId6"/>
          <a:stretch>
            <a:fillRect/>
          </a:stretch>
        </p:blipFill>
        <p:spPr>
          <a:xfrm>
            <a:off x="4037428" y="3568245"/>
            <a:ext cx="1083212" cy="13967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5055" y="1084240"/>
            <a:ext cx="11051149" cy="4401205"/>
          </a:xfrm>
          <a:prstGeom prst="rect">
            <a:avLst/>
          </a:prstGeom>
          <a:noFill/>
        </p:spPr>
        <p:txBody>
          <a:bodyPr wrap="square" rtlCol="0">
            <a:spAutoFit/>
          </a:bodyPr>
          <a:lstStyle/>
          <a:p>
            <a:pPr algn="just"/>
            <a:r>
              <a:rPr lang="en-US" b="1" dirty="0"/>
              <a:t>Problem Statement 13: AI-Assisted Precision Irrigation Monitoring System</a:t>
            </a:r>
          </a:p>
          <a:p>
            <a:pPr algn="just"/>
            <a:endParaRPr lang="en-US" dirty="0"/>
          </a:p>
          <a:p>
            <a:pPr algn="just"/>
            <a:r>
              <a:rPr lang="en-US" b="1" dirty="0"/>
              <a:t>The Challenge </a:t>
            </a:r>
          </a:p>
          <a:p>
            <a:pPr algn="just"/>
            <a:r>
              <a:rPr lang="en-US" dirty="0"/>
              <a:t>Inefficient irrigation practices lead to water wastage, crop stress, and reduced productivity. Farmers often lack continuous insights into soil moisture dynamics and crop water requirements. Manual irrigation decisions may not adapt to changing weather and soil conditions. There is a need for an intelligent assistive system that can analyze irrigation-related data and support water-efficient farming practices. </a:t>
            </a:r>
          </a:p>
          <a:p>
            <a:pPr algn="just"/>
            <a:endParaRPr lang="en-US" dirty="0"/>
          </a:p>
          <a:p>
            <a:pPr algn="just"/>
            <a:r>
              <a:rPr lang="en-US" b="1" dirty="0"/>
              <a:t>Soil &amp; Weather Data Analysis Agent </a:t>
            </a:r>
          </a:p>
          <a:p>
            <a:pPr algn="just"/>
            <a:r>
              <a:rPr lang="en-US" dirty="0"/>
              <a:t>An agent that processes soil moisture, evapotranspiration data, rainfall, and crop growth stages into irrigation-relevant insights. </a:t>
            </a:r>
          </a:p>
          <a:p>
            <a:pPr algn="just"/>
            <a:r>
              <a:rPr lang="en-US" dirty="0"/>
              <a:t>Water Stress Detection Agent </a:t>
            </a:r>
          </a:p>
          <a:p>
            <a:pPr algn="just"/>
            <a:r>
              <a:rPr lang="en-US" dirty="0"/>
              <a:t>An agent that identifies under-irrigation or over-irrigation patterns using historical and seasonal baselines. </a:t>
            </a:r>
          </a:p>
          <a:p>
            <a:pPr algn="just"/>
            <a:endParaRPr lang="en-US" dirty="0"/>
          </a:p>
          <a:p>
            <a:pPr algn="just"/>
            <a:r>
              <a:rPr lang="en-US" b="1" dirty="0"/>
              <a:t>Irrigation Advisory Assistant </a:t>
            </a:r>
          </a:p>
          <a:p>
            <a:pPr algn="just"/>
            <a:r>
              <a:rPr lang="en-US" dirty="0"/>
              <a:t>An agent that provides water-efficiency and scheduling insights (assistive only, non-automated control). </a:t>
            </a:r>
          </a:p>
          <a:p>
            <a:pPr algn="just"/>
            <a:endParaRPr lang="en-US" dirty="0"/>
          </a:p>
          <a:p>
            <a:pPr algn="just"/>
            <a:r>
              <a:rPr lang="en-US" b="1" dirty="0"/>
              <a:t>Outcome </a:t>
            </a:r>
          </a:p>
          <a:p>
            <a:pPr algn="just"/>
            <a:r>
              <a:rPr lang="en-US" dirty="0"/>
              <a:t>Promotes efficient water use, reduces resource wastage, and supports sustainable irrigation practices. </a:t>
            </a:r>
          </a:p>
          <a:p>
            <a:pPr algn="just"/>
            <a:endParaRPr lang="en-US" dirty="0"/>
          </a:p>
          <a:p>
            <a:pPr algn="just"/>
            <a:r>
              <a:rPr lang="en-US" b="1" dirty="0"/>
              <a:t>Mandatory Tech Stack </a:t>
            </a:r>
          </a:p>
          <a:p>
            <a:pPr algn="just"/>
            <a:r>
              <a:rPr lang="en-US" dirty="0"/>
              <a:t>Lang Flow using IBM Granite Model (Using RAG on irrigation guidelines and sustainable water management frameworks).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698480" cy="4185761"/>
          </a:xfrm>
          <a:prstGeom prst="rect">
            <a:avLst/>
          </a:prstGeom>
          <a:noFill/>
        </p:spPr>
        <p:txBody>
          <a:bodyPr wrap="square" rtlCol="0">
            <a:spAutoFit/>
          </a:bodyPr>
          <a:lstStyle/>
          <a:p>
            <a:pPr marL="285750" indent="-285750">
              <a:buFont typeface="Arial" panose="020B0604020202020204" pitchFamily="34" charset="0"/>
              <a:buChar char="•"/>
            </a:pPr>
            <a:r>
              <a:rPr lang="en-US" dirty="0"/>
              <a:t>An AI-Assisted Precision Irrigation Monitoring System that uses artificial intelligence to analyze soil moisture, weather conditions, crop stage, and recent rainfall to make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follows a structured AI workflow where user inputs are processed step-by-step through different AI agents using </a:t>
            </a:r>
            <a:r>
              <a:rPr lang="en-US" dirty="0" err="1"/>
              <a:t>Langflow</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identifies water stress conditions early and provides accurate irrigation advice such as when to irrigate, how much water is required, and whether irrigation can be postponed.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solution minimizes manual monitoring and helps farmers take timely, data-driven irrigation 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Irrigation Advisory Agent generates clear, actionable irrigation recommendations such as irrigation timing, quantity, and urgency.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solution reduces dependency on manual monitoring and expert availability.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provides real-time, data-driven irrigation guidance in a simple and understandable format.</a:t>
            </a:r>
          </a:p>
          <a:p>
            <a:endParaRPr lang="en-US" dirty="0"/>
          </a:p>
          <a:p>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10268712" cy="307777"/>
          </a:xfrm>
          <a:prstGeom prst="rect">
            <a:avLst/>
          </a:prstGeom>
          <a:noFill/>
        </p:spPr>
        <p:txBody>
          <a:bodyPr wrap="square" rtlCol="0">
            <a:spAutoFit/>
          </a:bodyPr>
          <a:lstStyle/>
          <a:p>
            <a:r>
              <a:rPr lang="en-US" dirty="0"/>
              <a:t>.</a:t>
            </a:r>
            <a:endParaRPr lang="en-IN" dirty="0"/>
          </a:p>
        </p:txBody>
      </p:sp>
      <p:sp>
        <p:nvSpPr>
          <p:cNvPr id="3" name="TextBox 2">
            <a:extLst>
              <a:ext uri="{FF2B5EF4-FFF2-40B4-BE49-F238E27FC236}">
                <a16:creationId xmlns:a16="http://schemas.microsoft.com/office/drawing/2014/main" id="{0A9D9ED1-DFE2-2CB1-E07B-2D3C44A85C9C}"/>
              </a:ext>
            </a:extLst>
          </p:cNvPr>
          <p:cNvSpPr txBox="1"/>
          <p:nvPr/>
        </p:nvSpPr>
        <p:spPr>
          <a:xfrm>
            <a:off x="1005840" y="623414"/>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9E42EC58-4196-A6DD-2621-EEAE518B7D12}"/>
              </a:ext>
            </a:extLst>
          </p:cNvPr>
          <p:cNvSpPr txBox="1"/>
          <p:nvPr/>
        </p:nvSpPr>
        <p:spPr>
          <a:xfrm>
            <a:off x="1139483" y="1477108"/>
            <a:ext cx="9748911" cy="3108543"/>
          </a:xfrm>
          <a:prstGeom prst="rect">
            <a:avLst/>
          </a:prstGeom>
          <a:noFill/>
        </p:spPr>
        <p:txBody>
          <a:bodyPr wrap="square" rtlCol="0">
            <a:spAutoFit/>
          </a:bodyPr>
          <a:lstStyle/>
          <a:p>
            <a:pPr marL="285750" indent="-285750">
              <a:buFont typeface="Arial" panose="020B0604020202020204" pitchFamily="34" charset="0"/>
              <a:buChar char="•"/>
            </a:pPr>
            <a:r>
              <a:rPr lang="en-US" dirty="0"/>
              <a:t>Agriculture consumes a major portion of available freshwater resources, making efficient irrigation a critical necessity.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Traditional irrigation methods are based on fixed schedules rather than real-time field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Farmers often over-irrigate crops due to fear of water stress, leading to water wastage.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Under-irrigation can reduce crop yield and quality.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Climate change has increased uncertainty in rainfall patterns and temperature variations.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Lack of access to timely agricultural expertise affects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a growing demand for smart farming solutions that are affordable, scalable, and easy to use.</a:t>
            </a:r>
          </a:p>
          <a:p>
            <a:endParaRPr lang="en-IN" dirty="0"/>
          </a:p>
        </p:txBody>
      </p:sp>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693452"/>
            <a:ext cx="10268712" cy="2462213"/>
          </a:xfrm>
          <a:prstGeom prst="rect">
            <a:avLst/>
          </a:prstGeom>
          <a:noFill/>
        </p:spPr>
        <p:txBody>
          <a:bodyPr wrap="square" rtlCol="0">
            <a:spAutoFit/>
          </a:bodyPr>
          <a:lstStyle/>
          <a:p>
            <a:pPr marL="285750" indent="-285750">
              <a:buFont typeface="Arial" panose="020B0604020202020204" pitchFamily="34" charset="0"/>
              <a:buChar char="•"/>
            </a:pPr>
            <a:r>
              <a:rPr lang="en-US" dirty="0"/>
              <a:t>Small-scale farmers who require decision support without complex equipment.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Medium and large-scale farmers managing irrigation over large land areas.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Agricultural extension officers assisting farmers with irrigation planning.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Government agencies promoting water conservation and sustainable agriculture.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Agritech</a:t>
            </a:r>
            <a:r>
              <a:rPr lang="en-US" dirty="0"/>
              <a:t> companies and smart farming solution providers.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Research institutions working on precision agriculture and water management.</a:t>
            </a:r>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05840" y="827486"/>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759164"/>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657174"/>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err="1"/>
              <a:t>Langflow</a:t>
            </a:r>
            <a:r>
              <a:rPr lang="en-US" b="1" dirty="0"/>
              <a:t> Platform:</a:t>
            </a:r>
            <a:r>
              <a:rPr lang="en-US" dirty="0"/>
              <a:t> Used to visually design and manage the multi-agent AI workflow for precision irrigation decision making.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Langflow</a:t>
            </a:r>
            <a:r>
              <a:rPr lang="en-US" b="1" dirty="0"/>
              <a:t> Components (Agent, Chat Input, Chat Output):</a:t>
            </a:r>
            <a:r>
              <a:rPr lang="en-US" dirty="0"/>
              <a:t> Chat Input collects agricultural data, Agents analyze and reason over it, and Chat Output displays irrigation recommendations.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Granite Model (ibm-granite-3-2-8b):</a:t>
            </a:r>
            <a:r>
              <a:rPr lang="en-US" dirty="0"/>
              <a:t> Used for AI reasoning and generating intelligent irrigation advisory based on input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Cloud:</a:t>
            </a:r>
            <a:r>
              <a:rPr lang="en-US" dirty="0"/>
              <a:t> Provides scalable and secure cloud infrastructure to deploy and run the irrigation monitoring system.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RAG (Retrieval-Augmented Generation):</a:t>
            </a:r>
            <a:r>
              <a:rPr lang="en-US" dirty="0"/>
              <a:t> Enhances AI responses by retrieving relevant external agricultural or weather information for better accuracy.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watsonx.ai:</a:t>
            </a:r>
            <a:r>
              <a:rPr lang="en-US" dirty="0"/>
              <a:t> Serves as the core AI platform for executing Granite models and managing AI inference.</a:t>
            </a:r>
          </a:p>
          <a:p>
            <a:endParaRPr lang="en-US" dirty="0"/>
          </a:p>
          <a:p>
            <a:pPr marL="285750" indent="-285750">
              <a:buFont typeface="Arial" panose="020B0604020202020204" pitchFamily="34" charset="0"/>
              <a:buChar char="•"/>
            </a:pPr>
            <a:r>
              <a:rPr lang="en-US" b="1" dirty="0" err="1"/>
              <a:t>Watsonx</a:t>
            </a:r>
            <a:r>
              <a:rPr lang="en-US" b="1" dirty="0"/>
              <a:t>:</a:t>
            </a:r>
            <a:r>
              <a:rPr lang="en-US" dirty="0"/>
              <a:t> Offers the enterprise AI ecosystem for model governance, integration, and responsible AI deployment.</a:t>
            </a:r>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7437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mj-lt"/>
                <a:ea typeface="Times New Roman"/>
                <a:cs typeface="Times New Roman"/>
                <a:sym typeface="Times New Roman"/>
              </a:rPr>
              <a:t>Novelty and Uniqueness</a:t>
            </a:r>
            <a:endParaRPr sz="2400" b="1" i="0" u="none" strike="noStrike" cap="none" dirty="0">
              <a:solidFill>
                <a:srgbClr val="000000"/>
              </a:solidFill>
              <a:latin typeface="+mj-lt"/>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741D8E5C-F47B-9F1B-B2B1-AC539E1AE99A}"/>
              </a:ext>
            </a:extLst>
          </p:cNvPr>
          <p:cNvSpPr txBox="1"/>
          <p:nvPr/>
        </p:nvSpPr>
        <p:spPr>
          <a:xfrm>
            <a:off x="1218724" y="1655714"/>
            <a:ext cx="9346113"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First AI-assisted irrigation platform that combines soil data, micro-climate conditions, and GenAI reasoning for precision water management.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Employs a modular multi-agent </a:t>
            </a:r>
            <a:r>
              <a:rPr lang="en-US" dirty="0" err="1"/>
              <a:t>Langflow</a:t>
            </a:r>
            <a:r>
              <a:rPr lang="en-US" dirty="0"/>
              <a:t> architecture instead of rigid rule-based irrigation systems.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Reduces dependency on costly hardware by enabling intelligent decision-making through software-driven analysis.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Granite-powered AI ensures accurate, unbiased, and agriculture-compliant irrigation recommendations.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19CBA82D-72AA-674A-D8BF-F82CE36BB7AF}"/>
              </a:ext>
            </a:extLst>
          </p:cNvPr>
          <p:cNvPicPr>
            <a:picLocks noChangeAspect="1"/>
          </p:cNvPicPr>
          <p:nvPr/>
        </p:nvPicPr>
        <p:blipFill>
          <a:blip r:embed="rId4"/>
          <a:stretch>
            <a:fillRect/>
          </a:stretch>
        </p:blipFill>
        <p:spPr>
          <a:xfrm>
            <a:off x="1359362" y="862277"/>
            <a:ext cx="9473276" cy="5453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720411" y="817428"/>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65321" y="1727512"/>
            <a:ext cx="8823960" cy="3108543"/>
          </a:xfrm>
          <a:prstGeom prst="rect">
            <a:avLst/>
          </a:prstGeom>
          <a:noFill/>
        </p:spPr>
        <p:txBody>
          <a:bodyPr wrap="square" rtlCol="0">
            <a:spAutoFit/>
          </a:bodyPr>
          <a:lstStyle/>
          <a:p>
            <a:pPr marL="285750" indent="-285750">
              <a:buFont typeface="Arial" panose="020B0604020202020204" pitchFamily="34" charset="0"/>
              <a:buChar char="•"/>
            </a:pPr>
            <a:r>
              <a:rPr lang="en-US" b="1" dirty="0"/>
              <a:t>Chat Input – </a:t>
            </a:r>
            <a:r>
              <a:rPr lang="en-US" dirty="0"/>
              <a:t>Collects soil, weather, crop, and irrigation details from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IBM </a:t>
            </a:r>
            <a:r>
              <a:rPr lang="en-US" b="1" dirty="0" err="1"/>
              <a:t>watsonx</a:t>
            </a:r>
            <a:r>
              <a:rPr lang="en-US" b="1" dirty="0"/>
              <a:t> AI Agent – </a:t>
            </a:r>
            <a:r>
              <a:rPr lang="en-US" dirty="0"/>
              <a:t>Analyzes the input data using the Granite model to generate irrigation decisions.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File Component – </a:t>
            </a:r>
            <a:r>
              <a:rPr lang="en-US" dirty="0"/>
              <a:t>Stores reference documents or datasets used to support AI reasoning.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Chat Output – </a:t>
            </a:r>
            <a:r>
              <a:rPr lang="en-US" dirty="0"/>
              <a:t>Displays the final AI-generated irrigation recommendations to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err="1"/>
              <a:t>SearchAPI</a:t>
            </a:r>
            <a:r>
              <a:rPr lang="en-US" b="1" dirty="0"/>
              <a:t> Tool – </a:t>
            </a:r>
            <a:r>
              <a:rPr lang="en-US" dirty="0"/>
              <a:t>Retrieves relevant external data to improve the accuracy of AI responses.</a:t>
            </a:r>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466996" y="5160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Agent used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714765E9-CF9A-96D0-E09F-95A4C8AC5960}"/>
              </a:ext>
            </a:extLst>
          </p:cNvPr>
          <p:cNvPicPr>
            <a:picLocks noChangeAspect="1"/>
          </p:cNvPicPr>
          <p:nvPr/>
        </p:nvPicPr>
        <p:blipFill>
          <a:blip r:embed="rId4"/>
          <a:stretch>
            <a:fillRect/>
          </a:stretch>
        </p:blipFill>
        <p:spPr>
          <a:xfrm>
            <a:off x="466996" y="1537261"/>
            <a:ext cx="3305893" cy="4343035"/>
          </a:xfrm>
          <a:prstGeom prst="rect">
            <a:avLst/>
          </a:prstGeom>
        </p:spPr>
      </p:pic>
      <p:pic>
        <p:nvPicPr>
          <p:cNvPr id="8" name="Picture 7">
            <a:extLst>
              <a:ext uri="{FF2B5EF4-FFF2-40B4-BE49-F238E27FC236}">
                <a16:creationId xmlns:a16="http://schemas.microsoft.com/office/drawing/2014/main" id="{EABB285D-A7A4-AF3A-C733-78FFB5E3966C}"/>
              </a:ext>
            </a:extLst>
          </p:cNvPr>
          <p:cNvPicPr>
            <a:picLocks noChangeAspect="1"/>
          </p:cNvPicPr>
          <p:nvPr/>
        </p:nvPicPr>
        <p:blipFill>
          <a:blip r:embed="rId5"/>
          <a:stretch>
            <a:fillRect/>
          </a:stretch>
        </p:blipFill>
        <p:spPr>
          <a:xfrm>
            <a:off x="4443053" y="1537261"/>
            <a:ext cx="3305893" cy="4331635"/>
          </a:xfrm>
          <a:prstGeom prst="rect">
            <a:avLst/>
          </a:prstGeom>
        </p:spPr>
      </p:pic>
      <p:pic>
        <p:nvPicPr>
          <p:cNvPr id="10" name="Picture 9">
            <a:extLst>
              <a:ext uri="{FF2B5EF4-FFF2-40B4-BE49-F238E27FC236}">
                <a16:creationId xmlns:a16="http://schemas.microsoft.com/office/drawing/2014/main" id="{BD4B3BCC-5D9E-3D70-CB1B-62F9B39BE380}"/>
              </a:ext>
            </a:extLst>
          </p:cNvPr>
          <p:cNvPicPr>
            <a:picLocks noChangeAspect="1"/>
          </p:cNvPicPr>
          <p:nvPr/>
        </p:nvPicPr>
        <p:blipFill>
          <a:blip r:embed="rId6"/>
          <a:stretch>
            <a:fillRect/>
          </a:stretch>
        </p:blipFill>
        <p:spPr>
          <a:xfrm>
            <a:off x="8419110" y="1406769"/>
            <a:ext cx="3387282" cy="447352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828166" y="232431"/>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Watsonx.ai Integration Panel</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5F460928-3160-5669-2A0B-053FF1048B63}"/>
              </a:ext>
            </a:extLst>
          </p:cNvPr>
          <p:cNvPicPr>
            <a:picLocks noChangeAspect="1"/>
          </p:cNvPicPr>
          <p:nvPr/>
        </p:nvPicPr>
        <p:blipFill>
          <a:blip r:embed="rId4"/>
          <a:stretch>
            <a:fillRect/>
          </a:stretch>
        </p:blipFill>
        <p:spPr>
          <a:xfrm>
            <a:off x="1342282" y="800364"/>
            <a:ext cx="2667010" cy="5257272"/>
          </a:xfrm>
          <a:prstGeom prst="rect">
            <a:avLst/>
          </a:prstGeom>
        </p:spPr>
      </p:pic>
      <p:sp>
        <p:nvSpPr>
          <p:cNvPr id="7" name="TextBox 6">
            <a:extLst>
              <a:ext uri="{FF2B5EF4-FFF2-40B4-BE49-F238E27FC236}">
                <a16:creationId xmlns:a16="http://schemas.microsoft.com/office/drawing/2014/main" id="{E35E4A00-5010-A624-E7C5-3BB1A8416E96}"/>
              </a:ext>
            </a:extLst>
          </p:cNvPr>
          <p:cNvSpPr txBox="1"/>
          <p:nvPr/>
        </p:nvSpPr>
        <p:spPr>
          <a:xfrm>
            <a:off x="4501662" y="1955408"/>
            <a:ext cx="6836898" cy="1169551"/>
          </a:xfrm>
          <a:prstGeom prst="rect">
            <a:avLst/>
          </a:prstGeom>
          <a:noFill/>
        </p:spPr>
        <p:txBody>
          <a:bodyPr wrap="square" rtlCol="0">
            <a:spAutoFit/>
          </a:bodyPr>
          <a:lstStyle/>
          <a:p>
            <a:pPr marL="285750" indent="-285750">
              <a:buFont typeface="Arial" panose="020B0604020202020204" pitchFamily="34" charset="0"/>
              <a:buChar char="•"/>
            </a:pPr>
            <a:r>
              <a:rPr lang="en-US" dirty="0"/>
              <a:t>This is a setup interface to connect an external app or platform with </a:t>
            </a:r>
            <a:r>
              <a:rPr lang="en-US" b="1" dirty="0"/>
              <a:t>IBM Watsonx.ai</a:t>
            </a:r>
            <a:r>
              <a:rPr lang="en-US" dirty="0"/>
              <a:t>, IBM’s generative AI service.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you to </a:t>
            </a:r>
            <a:r>
              <a:rPr lang="en-US" b="1" dirty="0"/>
              <a:t>send text input and receive AI-generated responses</a:t>
            </a:r>
            <a:r>
              <a:rPr lang="en-US" dirty="0"/>
              <a:t> using </a:t>
            </a:r>
            <a:r>
              <a:rPr lang="en-US" dirty="0" err="1"/>
              <a:t>Watsonx</a:t>
            </a:r>
            <a:r>
              <a:rPr lang="en-US" dirty="0"/>
              <a:t> foundation models.</a:t>
            </a:r>
            <a:endParaRPr lang="en-IN" dirty="0"/>
          </a:p>
        </p:txBody>
      </p:sp>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319432"/>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Inputs given to Agent</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6" name="TextBox 5">
            <a:extLst>
              <a:ext uri="{FF2B5EF4-FFF2-40B4-BE49-F238E27FC236}">
                <a16:creationId xmlns:a16="http://schemas.microsoft.com/office/drawing/2014/main" id="{592BE913-A561-E446-B021-76126C19017B}"/>
              </a:ext>
            </a:extLst>
          </p:cNvPr>
          <p:cNvSpPr txBox="1"/>
          <p:nvPr/>
        </p:nvSpPr>
        <p:spPr>
          <a:xfrm>
            <a:off x="1065320" y="1097280"/>
            <a:ext cx="10202902" cy="5047536"/>
          </a:xfrm>
          <a:prstGeom prst="rect">
            <a:avLst/>
          </a:prstGeom>
          <a:noFill/>
        </p:spPr>
        <p:txBody>
          <a:bodyPr wrap="square" rtlCol="0">
            <a:spAutoFit/>
          </a:bodyPr>
          <a:lstStyle/>
          <a:p>
            <a:pPr marL="285750" indent="-285750">
              <a:buFont typeface="Arial" panose="020B0604020202020204" pitchFamily="34" charset="0"/>
              <a:buChar char="•"/>
            </a:pPr>
            <a:r>
              <a:rPr lang="en-US" b="1" dirty="0"/>
              <a:t>soil and Weather data analysis : </a:t>
            </a:r>
          </a:p>
          <a:p>
            <a:pPr marL="285750" indent="-285750">
              <a:buFont typeface="Arial" panose="020B0604020202020204" pitchFamily="34" charset="0"/>
              <a:buChar char="•"/>
            </a:pPr>
            <a:endParaRPr lang="en-US" dirty="0"/>
          </a:p>
          <a:p>
            <a:r>
              <a:rPr lang="en-US" dirty="0"/>
              <a:t>You are a Soil and Weather Data Analysis Agent.</a:t>
            </a:r>
          </a:p>
          <a:p>
            <a:r>
              <a:rPr lang="en-US" dirty="0"/>
              <a:t>Analyze soil moisture, soil type, weather conditions, rainfall, evapotranspiration,</a:t>
            </a:r>
          </a:p>
          <a:p>
            <a:r>
              <a:rPr lang="en-US" dirty="0"/>
              <a:t>and crop growth stage to generate irrigation-relevant insights.</a:t>
            </a:r>
          </a:p>
          <a:p>
            <a:r>
              <a:rPr lang="en-US" dirty="0"/>
              <a:t>Provide recommendations such as irrigation need, timing, and quantity.</a:t>
            </a:r>
          </a:p>
          <a:p>
            <a:r>
              <a:rPr lang="en-US" dirty="0"/>
              <a:t>Return output in clear bullet points.</a:t>
            </a:r>
          </a:p>
          <a:p>
            <a:endParaRPr lang="en-US" b="1" dirty="0"/>
          </a:p>
          <a:p>
            <a:pPr marL="285750" indent="-285750">
              <a:buFont typeface="Arial" panose="020B0604020202020204" pitchFamily="34" charset="0"/>
              <a:buChar char="•"/>
            </a:pPr>
            <a:r>
              <a:rPr lang="en-IN" b="1" dirty="0"/>
              <a:t>Water stress detection analysis :</a:t>
            </a:r>
          </a:p>
          <a:p>
            <a:endParaRPr lang="en-IN" b="1" dirty="0"/>
          </a:p>
          <a:p>
            <a:r>
              <a:rPr lang="en-US" dirty="0"/>
              <a:t>You are a Water Stress Detection Agent.</a:t>
            </a:r>
          </a:p>
          <a:p>
            <a:r>
              <a:rPr lang="en-US" dirty="0"/>
              <a:t>Using current soil moisture, irrigation history, seasonal baselines,</a:t>
            </a:r>
          </a:p>
          <a:p>
            <a:r>
              <a:rPr lang="en-US" dirty="0"/>
              <a:t>and analysis insights, detect under-irrigation or over-irrigation.</a:t>
            </a:r>
          </a:p>
          <a:p>
            <a:r>
              <a:rPr lang="en-US" dirty="0"/>
              <a:t>Classify stress level as none, mild, moderate, or severe.</a:t>
            </a:r>
          </a:p>
          <a:p>
            <a:r>
              <a:rPr lang="en-US" dirty="0"/>
              <a:t>Explain reasoning briefly.</a:t>
            </a:r>
          </a:p>
          <a:p>
            <a:endParaRPr lang="en-US" dirty="0"/>
          </a:p>
          <a:p>
            <a:pPr marL="285750" indent="-285750">
              <a:buFont typeface="Arial" panose="020B0604020202020204" pitchFamily="34" charset="0"/>
              <a:buChar char="•"/>
            </a:pPr>
            <a:r>
              <a:rPr lang="en-US" b="1" dirty="0"/>
              <a:t>Irrigation advisory assistance :</a:t>
            </a:r>
          </a:p>
          <a:p>
            <a:endParaRPr lang="en-US" b="1" dirty="0"/>
          </a:p>
          <a:p>
            <a:r>
              <a:rPr lang="en-US" dirty="0"/>
              <a:t>You are an Irrigation Advisory Assistant.</a:t>
            </a:r>
          </a:p>
          <a:p>
            <a:r>
              <a:rPr lang="en-US" dirty="0"/>
              <a:t>Provide assistive (non-automated) irrigation scheduling and water-efficiency advice.</a:t>
            </a:r>
          </a:p>
          <a:p>
            <a:r>
              <a:rPr lang="en-US" dirty="0"/>
              <a:t>Use soil analysis, stress detection results, and sustainable irrigation principles.</a:t>
            </a:r>
          </a:p>
          <a:p>
            <a:r>
              <a:rPr lang="en-US" dirty="0"/>
              <a:t>Do not control irrigation systems.</a:t>
            </a:r>
          </a:p>
          <a:p>
            <a:r>
              <a:rPr lang="en-US" dirty="0"/>
              <a:t>Suggest optimal timing, quantity, and water-saving practices.</a:t>
            </a:r>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931102" y="80817"/>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Workflow : </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19ACE43D-0156-4B0E-EE31-CF6FEBB09A70}"/>
              </a:ext>
            </a:extLst>
          </p:cNvPr>
          <p:cNvPicPr>
            <a:picLocks noChangeAspect="1"/>
          </p:cNvPicPr>
          <p:nvPr/>
        </p:nvPicPr>
        <p:blipFill>
          <a:blip r:embed="rId4"/>
          <a:stretch>
            <a:fillRect/>
          </a:stretch>
        </p:blipFill>
        <p:spPr>
          <a:xfrm>
            <a:off x="931102" y="687017"/>
            <a:ext cx="10604406" cy="5483965"/>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59700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787626"/>
            <a:ext cx="9214580" cy="4277001"/>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r>
              <a:rPr lang="en-US" dirty="0"/>
              <a:t>Chat Input component to receive structured agricultural data from users.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Soil and Weather Data Analysis Agent to process environmental conditions.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Water Stress Detection Agent to evaluate crop water stress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Irrigation Advisory Assistant Agent to generate irrigation recommendations.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IBM watsonx.ai node as the core AI inference engine.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SearchAPI</a:t>
            </a:r>
            <a:r>
              <a:rPr lang="en-US" dirty="0"/>
              <a:t> tool for external information retrieval.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Chat Output component to present final recommendations to the user.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Flow connections ensuring sequential and logical data processing.</a:t>
            </a:r>
          </a:p>
          <a:p>
            <a:endParaRPr lang="en-US" sz="2000" dirty="0"/>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078048" y="39736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AE8248B5-0F4D-B61A-6166-C288D8158FF6}"/>
              </a:ext>
            </a:extLst>
          </p:cNvPr>
          <p:cNvSpPr txBox="1"/>
          <p:nvPr/>
        </p:nvSpPr>
        <p:spPr>
          <a:xfrm>
            <a:off x="1078048" y="1295388"/>
            <a:ext cx="7151553" cy="307777"/>
          </a:xfrm>
          <a:prstGeom prst="rect">
            <a:avLst/>
          </a:prstGeom>
          <a:noFill/>
        </p:spPr>
        <p:txBody>
          <a:bodyPr wrap="square" rtlCol="0">
            <a:spAutoFit/>
          </a:bodyPr>
          <a:lstStyle/>
          <a:p>
            <a:r>
              <a:rPr lang="en-IN" dirty="0"/>
              <a:t>https://github.com/shravya-456/irrigationProject</a:t>
            </a:r>
          </a:p>
        </p:txBody>
      </p:sp>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18724" y="884511"/>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simple agent step by step</a:t>
            </a: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AgriDoctor</a:t>
            </a:r>
            <a:r>
              <a:rPr lang="en-US" sz="1850" dirty="0">
                <a:solidFill>
                  <a:srgbClr val="2B3541"/>
                </a:solidFill>
                <a:latin typeface="Times New Roman"/>
                <a:ea typeface="Times New Roman"/>
                <a:cs typeface="Times New Roman"/>
                <a:sym typeface="Times New Roman"/>
              </a:rPr>
              <a:t> on </a:t>
            </a: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a:t>
            </a:r>
          </a:p>
          <a:p>
            <a:pPr marL="342900" lvl="0" indent="-342900">
              <a:lnSpc>
                <a:spcPct val="162162"/>
              </a:lnSpc>
              <a:buClr>
                <a:srgbClr val="2B3541"/>
              </a:buClr>
              <a:buSzPts val="1850"/>
              <a:buFont typeface="Arial" panose="020B0604020202020204" pitchFamily="34" charset="0"/>
              <a:buChar char="•"/>
            </a:pPr>
            <a:r>
              <a:rPr lang="en-US" sz="1850" dirty="0" err="1">
                <a:solidFill>
                  <a:srgbClr val="2B3541"/>
                </a:solidFill>
                <a:latin typeface="Times New Roman"/>
                <a:ea typeface="Times New Roman"/>
                <a:cs typeface="Times New Roman"/>
                <a:sym typeface="Times New Roman"/>
              </a:rPr>
              <a:t>Langflow</a:t>
            </a:r>
            <a:r>
              <a:rPr lang="en-US" sz="1850" dirty="0">
                <a:solidFill>
                  <a:srgbClr val="2B3541"/>
                </a:solidFill>
                <a:latin typeface="Times New Roman"/>
                <a:ea typeface="Times New Roman"/>
                <a:cs typeface="Times New Roman"/>
                <a:sym typeface="Times New Roman"/>
              </a:rPr>
              <a:t> project 3 pharma </a:t>
            </a:r>
            <a:r>
              <a:rPr lang="en-US" sz="1850" dirty="0" err="1">
                <a:solidFill>
                  <a:srgbClr val="2B3541"/>
                </a:solidFill>
                <a:latin typeface="Times New Roman"/>
                <a:ea typeface="Times New Roman"/>
                <a:cs typeface="Times New Roman"/>
                <a:sym typeface="Times New Roman"/>
              </a:rPr>
              <a:t>safetyNet</a:t>
            </a:r>
            <a:endParaRPr lang="en-US" sz="1850" dirty="0">
              <a:solidFill>
                <a:srgbClr val="2B3541"/>
              </a:solidFill>
              <a:latin typeface="Times New Roman"/>
              <a:ea typeface="Times New Roman"/>
              <a:cs typeface="Times New Roman"/>
              <a:sym typeface="Times New Roman"/>
            </a:endParaRPr>
          </a:p>
          <a:p>
            <a:pPr marL="342900" lvl="0" indent="-342900">
              <a:lnSpc>
                <a:spcPct val="162162"/>
              </a:lnSpc>
              <a:buClr>
                <a:srgbClr val="2B3541"/>
              </a:buClr>
              <a:buSzPts val="1850"/>
              <a:buFont typeface="Arial" panose="020B0604020202020204" pitchFamily="34" charset="0"/>
              <a:buChar char="•"/>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1542</TotalTime>
  <Words>1165</Words>
  <Application>Microsoft Office PowerPoint</Application>
  <PresentationFormat>Widescreen</PresentationFormat>
  <Paragraphs>186</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Shravya R</cp:lastModifiedBy>
  <cp:revision>122</cp:revision>
  <dcterms:created xsi:type="dcterms:W3CDTF">2025-07-08T05:06:56Z</dcterms:created>
  <dcterms:modified xsi:type="dcterms:W3CDTF">2026-02-02T05:48:10Z</dcterms:modified>
</cp:coreProperties>
</file>